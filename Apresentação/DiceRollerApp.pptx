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97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FA3C-DF83-8A23-ABE9-FE52497B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4A555-F02C-19C3-E91F-88196E9B6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F7FE9-D8A6-F6F5-B812-3F35BECAE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5A873-2E15-0C1F-EB62-23A15250A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34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3B5BDB">
              <a:alpha val="3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EF5350">
              <a:alpha val="2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20240"/>
            <a:ext cx="2369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4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D12 × 2</a:t>
            </a:r>
            <a:endParaRPr lang="pt-PT" sz="4800" noProof="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29128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200" noProof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Roller App</a:t>
            </a:r>
            <a:endParaRPr lang="pt-PT" sz="3200" noProof="0" dirty="0"/>
          </a:p>
        </p:txBody>
      </p:sp>
      <p:sp>
        <p:nvSpPr>
          <p:cNvPr id="7" name="Text 4"/>
          <p:cNvSpPr/>
          <p:nvPr/>
        </p:nvSpPr>
        <p:spPr>
          <a:xfrm>
            <a:off x="731521" y="3474720"/>
            <a:ext cx="5344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Android com 2 dados de 12 faces cada em formato 3D</a:t>
            </a:r>
            <a:endParaRPr lang="pt-PT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731519" y="4328604"/>
            <a:ext cx="29128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Avançada de Dispositivos Móveis </a:t>
            </a:r>
          </a:p>
          <a:p>
            <a:pPr marL="0" indent="0">
              <a:buNone/>
            </a:pPr>
            <a:r>
              <a:rPr lang="pt-PT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Carvalho</a:t>
            </a:r>
            <a:r>
              <a:rPr lang="pt-PT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- 30010987</a:t>
            </a:r>
            <a:endParaRPr lang="pt-PT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</a:t>
            </a:r>
            <a:endParaRPr lang="pt-PT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pt-PT" sz="2000" noProof="0" dirty="0"/>
          </a:p>
        </p:txBody>
      </p:sp>
      <p:sp>
        <p:nvSpPr>
          <p:cNvPr id="4" name="Text 2"/>
          <p:cNvSpPr/>
          <p:nvPr/>
        </p:nvSpPr>
        <p:spPr>
          <a:xfrm>
            <a:off x="1234440" y="1371600"/>
            <a:ext cx="9769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pt-PT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234440" y="1664208"/>
            <a:ext cx="1969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objetivos do projeto</a:t>
            </a:r>
            <a:endParaRPr lang="pt-PT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pt-PT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349239" y="1371600"/>
            <a:ext cx="1200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D12</a:t>
            </a:r>
            <a:endParaRPr lang="pt-PT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349240" y="1664208"/>
            <a:ext cx="2063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 dos dados de 12 faces</a:t>
            </a:r>
            <a:endParaRPr lang="pt-PT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pt-PT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234440" y="2240280"/>
            <a:ext cx="9769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pt-PT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234440" y="2532888"/>
            <a:ext cx="2338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Jetpack </a:t>
            </a:r>
            <a:r>
              <a:rPr lang="pt-PT" sz="12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Material 3</a:t>
            </a:r>
            <a:endParaRPr lang="pt-PT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pt-PT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5349240" y="2240280"/>
            <a:ext cx="1025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pt-PT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5349240" y="2532888"/>
            <a:ext cx="2338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organização dos ficheiros</a:t>
            </a:r>
            <a:endParaRPr lang="pt-PT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pt-PT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234440" y="3108960"/>
            <a:ext cx="607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pt-PT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234440" y="3401568"/>
            <a:ext cx="249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3D, animações e interface</a:t>
            </a:r>
            <a:endParaRPr lang="pt-PT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pt-PT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5349240" y="3108960"/>
            <a:ext cx="12461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pt-PT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5349240" y="3401568"/>
            <a:ext cx="262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principal da aplicação e as animações</a:t>
            </a:r>
            <a:endParaRPr lang="pt-PT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pt-PT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9769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PT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1234439" y="4270248"/>
            <a:ext cx="1612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otimizações</a:t>
            </a:r>
            <a:endParaRPr lang="pt-PT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000" b="1" noProof="0" dirty="0">
                <a:solidFill>
                  <a:srgbClr val="3B5B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pt-PT" sz="2000" noProof="0" dirty="0"/>
          </a:p>
        </p:txBody>
      </p:sp>
      <p:sp>
        <p:nvSpPr>
          <p:cNvPr id="25" name="Text 23"/>
          <p:cNvSpPr/>
          <p:nvPr/>
        </p:nvSpPr>
        <p:spPr>
          <a:xfrm>
            <a:off x="5349240" y="3977640"/>
            <a:ext cx="1025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PT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5349240" y="4270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utilizadas </a:t>
            </a:r>
            <a:r>
              <a:rPr lang="pt-PT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pt-PT" sz="1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projeto</a:t>
            </a:r>
            <a:endParaRPr lang="pt-PT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Introdução</a:t>
            </a:r>
            <a:endParaRPr lang="pt-PT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686124" y="1177047"/>
            <a:ext cx="4754880" cy="319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tem como objetivo o desenvolvimento de uma aplicação Android que simula o lançamento de dois dados dodecaédricos, com a renderização tridimensional em tempo real.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foi desenvolvida em </a:t>
            </a:r>
            <a:r>
              <a:rPr lang="pt-PT" sz="15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Jetpack </a:t>
            </a:r>
            <a:r>
              <a:rPr lang="pt-PT" sz="15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Material 3, e utiliza a API </a:t>
            </a:r>
            <a:r>
              <a:rPr lang="pt-PT" sz="15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desenhar cada dodecaedro com iluminação, projeção perspetiva e sombreamento por face.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utilizador pode rodar os dados livremente em todas as direções e observar o resultado de cada lançamento, acompanhado por animações de rotação em três eixos, simulação de gravidade e efeito de ressalto.</a:t>
            </a:r>
            <a:endParaRPr lang="pt-PT" sz="15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25EDE-ED9D-ED6D-F7DE-78435FD0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805" y="169189"/>
            <a:ext cx="2245675" cy="47270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de D12</a:t>
            </a:r>
            <a:endParaRPr lang="pt-PT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671004" y="1284188"/>
            <a:ext cx="523477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dados de doze faces (D12) são um poliedro regular conhecido como dodecaedro. Cada face tem a forma de um pentágono regular, e os valores variam de 1 a 12.</a:t>
            </a:r>
            <a:endParaRPr lang="pt-PT" sz="1500" noProof="0" dirty="0"/>
          </a:p>
          <a:p>
            <a:pPr>
              <a:spcAft>
                <a:spcPts val="1200"/>
              </a:spcAft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dados são amplamente utilizados em jogos de mesa e em sistemas de RPG para resolver ações de combate, calcular dano, definir atributos de personagens ou determinar outros resultados aleatórios durante o jogo.</a:t>
            </a:r>
          </a:p>
          <a:p>
            <a:pPr>
              <a:spcAft>
                <a:spcPts val="1200"/>
              </a:spcAft>
            </a:pPr>
            <a:r>
              <a:rPr lang="pt-PT" sz="15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Matematicamente, o dodecaedro é um dos cinco sólidos platónicos, com 12 faces pentagonais, 20 vértices e 30 arestas. Isto garante que cada face tem exatamente a mesma área, o que assegura uma distribuição uniforme de probabilidades.</a:t>
            </a:r>
            <a:endParaRPr lang="pt-PT" sz="1500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6D2FF9-A0CC-D727-DF0A-750BAA9ECEA9}"/>
              </a:ext>
            </a:extLst>
          </p:cNvPr>
          <p:cNvGrpSpPr/>
          <p:nvPr/>
        </p:nvGrpSpPr>
        <p:grpSpPr>
          <a:xfrm>
            <a:off x="6400800" y="1422832"/>
            <a:ext cx="2286000" cy="2578608"/>
            <a:chOff x="6400800" y="1280160"/>
            <a:chExt cx="2286000" cy="2578608"/>
          </a:xfrm>
        </p:grpSpPr>
        <p:sp>
          <p:nvSpPr>
            <p:cNvPr id="4" name="Shape 2"/>
            <p:cNvSpPr/>
            <p:nvPr/>
          </p:nvSpPr>
          <p:spPr>
            <a:xfrm>
              <a:off x="6400800" y="1280160"/>
              <a:ext cx="2286000" cy="749808"/>
            </a:xfrm>
            <a:prstGeom prst="rect">
              <a:avLst/>
            </a:prstGeom>
            <a:solidFill>
              <a:srgbClr val="F1F5F9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537960" y="132588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2800" b="1" noProof="0" dirty="0">
                  <a:solidFill>
                    <a:srgbClr val="3B5BD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12</a:t>
              </a:r>
              <a:endParaRPr lang="pt-PT" sz="2800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537960" y="1719072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2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Faces Pentagonais</a:t>
              </a:r>
              <a:endParaRPr lang="pt-PT" sz="1200" noProof="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00800" y="2194560"/>
              <a:ext cx="2286000" cy="749808"/>
            </a:xfrm>
            <a:prstGeom prst="rect">
              <a:avLst/>
            </a:prstGeom>
            <a:solidFill>
              <a:srgbClr val="F1F5F9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537960" y="224028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2800" b="1" noProof="0" dirty="0">
                  <a:solidFill>
                    <a:srgbClr val="3B5BD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20</a:t>
              </a:r>
              <a:endParaRPr lang="pt-PT" sz="2800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537960" y="2633472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2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Vértices</a:t>
              </a:r>
              <a:endParaRPr lang="pt-PT" sz="1200" noProof="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400800" y="3108960"/>
              <a:ext cx="2286000" cy="749808"/>
            </a:xfrm>
            <a:prstGeom prst="rect">
              <a:avLst/>
            </a:prstGeom>
            <a:solidFill>
              <a:srgbClr val="F1F5F9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537960" y="3154680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2800" b="1" noProof="0" dirty="0">
                  <a:solidFill>
                    <a:srgbClr val="3B5BD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30</a:t>
              </a:r>
              <a:endParaRPr lang="pt-PT" sz="2800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537960" y="3547872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2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Arestas</a:t>
              </a:r>
              <a:endParaRPr lang="pt-PT" sz="1200" noProof="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3320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Tecnologias Utilizadas</a:t>
            </a:r>
            <a:endParaRPr lang="pt-PT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1005840" y="1536192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3677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463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800" b="1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pt-PT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920240" y="1828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do projeto, com sintaxe concisa, segurança contra valores nulos e total interoperabilidade com as bibliotecas do ecossistema Android.</a:t>
            </a:r>
            <a:endParaRPr lang="pt-PT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6"/>
          <p:cNvSpPr/>
          <p:nvPr/>
        </p:nvSpPr>
        <p:spPr>
          <a:xfrm>
            <a:off x="1005840" y="2724912"/>
            <a:ext cx="640080" cy="640080"/>
          </a:xfrm>
          <a:prstGeom prst="ellipse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8346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651760"/>
            <a:ext cx="16595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8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</a:t>
            </a:r>
            <a:r>
              <a:rPr lang="pt-PT" sz="1800" b="1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pt-PT" sz="1800" noProof="0" dirty="0"/>
          </a:p>
        </p:txBody>
      </p:sp>
      <p:sp>
        <p:nvSpPr>
          <p:cNvPr id="12" name="Text 8"/>
          <p:cNvSpPr/>
          <p:nvPr/>
        </p:nvSpPr>
        <p:spPr>
          <a:xfrm>
            <a:off x="1920240" y="3017520"/>
            <a:ext cx="5874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declarativo de UI da Google para Android, que permite construir interfaces com funções compostas em vez de XML.</a:t>
            </a:r>
            <a:endParaRPr lang="pt-PT" sz="1300" noProof="0" dirty="0"/>
          </a:p>
        </p:txBody>
      </p:sp>
      <p:sp>
        <p:nvSpPr>
          <p:cNvPr id="13" name="Shape 9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0"/>
          <p:cNvSpPr/>
          <p:nvPr/>
        </p:nvSpPr>
        <p:spPr>
          <a:xfrm>
            <a:off x="1005840" y="3913632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02336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840480"/>
            <a:ext cx="9786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8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pt-PT" sz="1800" noProof="0" dirty="0"/>
          </a:p>
        </p:txBody>
      </p:sp>
      <p:sp>
        <p:nvSpPr>
          <p:cNvPr id="17" name="Text 12"/>
          <p:cNvSpPr/>
          <p:nvPr/>
        </p:nvSpPr>
        <p:spPr>
          <a:xfrm>
            <a:off x="1920240" y="4206240"/>
            <a:ext cx="5959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design da Google que fornece componentes, temas e tipografia consistentes para aplicações Android modernas.</a:t>
            </a:r>
            <a:endParaRPr lang="pt-PT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da Aplicação</a:t>
            </a:r>
            <a:endParaRPr lang="pt-PT" sz="3600" noProof="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81645D7-9E81-81F1-F63F-887E80281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24" t="1638" r="7776" b="31999"/>
          <a:stretch>
            <a:fillRect/>
          </a:stretch>
        </p:blipFill>
        <p:spPr>
          <a:xfrm>
            <a:off x="797667" y="1297021"/>
            <a:ext cx="7918595" cy="304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4516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Geometria 3D dos dados</a:t>
            </a:r>
            <a:endParaRPr lang="pt-PT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geometria de cada dado é definida por 20 vértices posicionados no espaço tridimensional e por 12 faces pentagonais, cada uma composta por 5 índices de vértices. As constantes PHI e INV determinam as coordenadas exatas que garantem a regularidade do poliedro.</a:t>
            </a:r>
            <a:endParaRPr lang="pt-PT" sz="13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BCB56-8077-850D-C7E5-A69802A3C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373" y="1679540"/>
            <a:ext cx="2598240" cy="31934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7EA127-4F33-BA0C-5E72-B4240043D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069" y="2561052"/>
            <a:ext cx="1741824" cy="126210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741E81-426E-793E-6B5A-A64360BDCBBB}"/>
              </a:ext>
            </a:extLst>
          </p:cNvPr>
          <p:cNvCxnSpPr/>
          <p:nvPr/>
        </p:nvCxnSpPr>
        <p:spPr>
          <a:xfrm>
            <a:off x="4909226" y="3198830"/>
            <a:ext cx="11932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599" y="365760"/>
            <a:ext cx="49319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Animações de Lançamento</a:t>
            </a:r>
            <a:endParaRPr lang="pt-PT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4577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</a:t>
            </a:r>
            <a:r>
              <a:rPr lang="pt-PT" sz="13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sorteia o resultado de cada dado, determina os ângulos de rotação necessários para que a face correta fique visível e inicia animações independentes nos três eixos, para simular um lançamento natural.</a:t>
            </a:r>
            <a:endParaRPr lang="pt-PT" sz="13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D8DCC-878B-C508-2115-359E92EDE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31" y="1719072"/>
            <a:ext cx="3178350" cy="2989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78C23-3DFF-409D-1610-10B15606A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640" y="2321667"/>
            <a:ext cx="5272790" cy="1731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599" y="365760"/>
            <a:ext cx="44714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Simulação de Gravidade</a:t>
            </a:r>
            <a:endParaRPr lang="pt-PT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" y="99911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lançamento, cada dado é submetido a um ciclo de física que aplica gravidade e inverte a velocidade a cada impacto com o chão, com perda progressiva de energia até o dado estabilizar</a:t>
            </a:r>
            <a:endParaRPr lang="pt-PT" sz="13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0ADDF3-AE05-9308-7483-1186F3F1B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29" y="1558630"/>
            <a:ext cx="3949588" cy="3368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599" y="365760"/>
            <a:ext cx="50927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Iluminação e Renderização</a:t>
            </a:r>
            <a:endParaRPr lang="pt-PT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" y="97894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face, é calculado o centro e a normal no espaço 3D, descarta as faces traseiras e determina a iluminação difusa e o reflexo com base na direção da luz. </a:t>
            </a:r>
            <a:endParaRPr lang="pt-PT" sz="13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92034-3D02-8DA1-CE47-605914F3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3185275" cy="3440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69995-34E1-B7F7-932E-898699023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420" y="1681355"/>
            <a:ext cx="4363346" cy="3096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4124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Ecrã Principal</a:t>
            </a:r>
            <a:endParaRPr lang="pt-PT" sz="3600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4DDC05-4BAC-B5D7-72CE-1E33A3A5D0C0}"/>
              </a:ext>
            </a:extLst>
          </p:cNvPr>
          <p:cNvGrpSpPr/>
          <p:nvPr/>
        </p:nvGrpSpPr>
        <p:grpSpPr>
          <a:xfrm>
            <a:off x="4023360" y="1538138"/>
            <a:ext cx="4754880" cy="2724912"/>
            <a:chOff x="4023360" y="1097280"/>
            <a:chExt cx="4754880" cy="2724912"/>
          </a:xfrm>
        </p:grpSpPr>
        <p:sp>
          <p:nvSpPr>
            <p:cNvPr id="4" name="Shape 1"/>
            <p:cNvSpPr/>
            <p:nvPr/>
          </p:nvSpPr>
          <p:spPr>
            <a:xfrm>
              <a:off x="4023360" y="1097280"/>
              <a:ext cx="4754880" cy="8046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251960" y="1170432"/>
              <a:ext cx="167819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500" b="1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Dados 3D Interativos</a:t>
              </a:r>
              <a:endParaRPr lang="pt-PT" sz="1500" noProof="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251960" y="1463040"/>
              <a:ext cx="419279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1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 dados contém iluminação, sombras e projeção perspetiva. O utilizador pode arrastar com os dedos cada dado para mexer livremente.</a:t>
              </a:r>
              <a:endParaRPr lang="pt-PT" sz="1100" noProof="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4023360" y="2057400"/>
              <a:ext cx="4754880" cy="8046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251960" y="2130552"/>
              <a:ext cx="86464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500" b="1" noProof="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Multicolor</a:t>
              </a:r>
              <a:endParaRPr lang="pt-PT" sz="1500" noProof="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251960" y="2423160"/>
              <a:ext cx="4297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1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 dado é de cor vermelha e o outro dado é azul, cada um com iluminação de luz dinâmica como sombras e rebordos.</a:t>
              </a:r>
              <a:endParaRPr lang="pt-PT" sz="1100" noProof="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023360" y="3017520"/>
              <a:ext cx="4754880" cy="8046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4251960" y="3090672"/>
              <a:ext cx="81085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500" b="1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Animação</a:t>
              </a:r>
              <a:endParaRPr lang="pt-PT" sz="1500" noProof="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251960" y="3383280"/>
              <a:ext cx="384198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PT" sz="1100" noProof="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Rotação em três eixos com curva de desaceleração personalizada e simulação de gravidade com ressalto.</a:t>
              </a:r>
              <a:endParaRPr lang="pt-PT" sz="1100" noProof="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9041128-C52F-6F0F-3DBF-A5CE9C98E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57" y="1265472"/>
            <a:ext cx="1673293" cy="35222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97" y="475488"/>
            <a:ext cx="293646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51771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do Ecrã </a:t>
            </a:r>
            <a:r>
              <a:rPr lang="pt-PT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pt-PT" sz="2800" b="1" noProof="0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rincipal</a:t>
            </a:r>
            <a:endParaRPr lang="pt-PT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</a:t>
            </a:r>
            <a:r>
              <a:rPr lang="pt-PT" sz="13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DiceRollerScreen</a:t>
            </a: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compõe o ecrã com um título, dois </a:t>
            </a:r>
            <a:r>
              <a:rPr lang="pt-PT" sz="13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</a:t>
            </a:r>
            <a:r>
              <a:rPr lang="pt-PT" sz="13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lado a lado, a soma e o botão de lançamento.</a:t>
            </a:r>
            <a:endParaRPr lang="pt-PT" sz="13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CB293-CC52-5F86-0170-FD6B05C31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14830"/>
            <a:ext cx="3354160" cy="3317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7FF5B-B09E-7960-91C3-34B256163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397" y="1614830"/>
            <a:ext cx="3250335" cy="33170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8CB21-5781-CC08-7BBA-7CCD8948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964D05-8EC4-8E40-1416-C38199A7D0E6}"/>
              </a:ext>
            </a:extLst>
          </p:cNvPr>
          <p:cNvSpPr/>
          <p:nvPr/>
        </p:nvSpPr>
        <p:spPr>
          <a:xfrm>
            <a:off x="731520" y="3840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PT" noProof="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CDABC3A-087A-B351-2F35-E6BAFE1F2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97" y="475488"/>
            <a:ext cx="293646" cy="2743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76A7264-3ACA-1D94-6524-DC2EDD531219}"/>
              </a:ext>
            </a:extLst>
          </p:cNvPr>
          <p:cNvSpPr/>
          <p:nvPr/>
        </p:nvSpPr>
        <p:spPr>
          <a:xfrm>
            <a:off x="1371600" y="365760"/>
            <a:ext cx="4121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</a:t>
            </a:r>
            <a:r>
              <a:rPr lang="pt-PT" sz="2800" b="1" noProof="0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</a:t>
            </a:r>
            <a:r>
              <a:rPr lang="pt-PT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ática</a:t>
            </a:r>
            <a:endParaRPr lang="pt-PT" sz="2800" b="1" noProof="0" dirty="0">
              <a:solidFill>
                <a:srgbClr val="1E293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pic>
        <p:nvPicPr>
          <p:cNvPr id="5" name="Video_Demonstração">
            <a:hlinkClick r:id="" action="ppaction://media"/>
            <a:extLst>
              <a:ext uri="{FF2B5EF4-FFF2-40B4-BE49-F238E27FC236}">
                <a16:creationId xmlns:a16="http://schemas.microsoft.com/office/drawing/2014/main" id="{5CEE6161-3A6C-9892-6AF9-C5B85369A2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95949" y="1049045"/>
            <a:ext cx="5952102" cy="372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3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41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8495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2455" y="485811"/>
            <a:ext cx="27055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pt-PT" sz="3600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B2F308-8737-CD22-5639-F9053525C9AC}"/>
              </a:ext>
            </a:extLst>
          </p:cNvPr>
          <p:cNvGrpSpPr/>
          <p:nvPr/>
        </p:nvGrpSpPr>
        <p:grpSpPr>
          <a:xfrm>
            <a:off x="827264" y="1675952"/>
            <a:ext cx="7516368" cy="2093603"/>
            <a:chOff x="813816" y="1158240"/>
            <a:chExt cx="7516368" cy="20936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7247EE-F738-B7A0-70E6-BABA6D1CB2DE}"/>
                </a:ext>
              </a:extLst>
            </p:cNvPr>
            <p:cNvGrpSpPr/>
            <p:nvPr/>
          </p:nvGrpSpPr>
          <p:grpSpPr>
            <a:xfrm>
              <a:off x="813816" y="1319411"/>
              <a:ext cx="201168" cy="1700784"/>
              <a:chOff x="914400" y="1993392"/>
              <a:chExt cx="201168" cy="1700784"/>
            </a:xfrm>
          </p:grpSpPr>
          <p:sp>
            <p:nvSpPr>
              <p:cNvPr id="4" name="Shape 1"/>
              <p:cNvSpPr/>
              <p:nvPr/>
            </p:nvSpPr>
            <p:spPr>
              <a:xfrm>
                <a:off x="914400" y="1993392"/>
                <a:ext cx="201168" cy="201168"/>
              </a:xfrm>
              <a:prstGeom prst="ellipse">
                <a:avLst/>
              </a:prstGeom>
              <a:solidFill>
                <a:srgbClr val="3B5BDB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6" name="Shape 3"/>
              <p:cNvSpPr/>
              <p:nvPr/>
            </p:nvSpPr>
            <p:spPr>
              <a:xfrm>
                <a:off x="914400" y="2743200"/>
                <a:ext cx="201168" cy="201168"/>
              </a:xfrm>
              <a:prstGeom prst="ellipse">
                <a:avLst/>
              </a:prstGeom>
              <a:solidFill>
                <a:srgbClr val="3B5BDB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  <p:sp>
            <p:nvSpPr>
              <p:cNvPr id="8" name="Shape 5"/>
              <p:cNvSpPr/>
              <p:nvPr/>
            </p:nvSpPr>
            <p:spPr>
              <a:xfrm>
                <a:off x="914400" y="3493008"/>
                <a:ext cx="201168" cy="201168"/>
              </a:xfrm>
              <a:prstGeom prst="ellipse">
                <a:avLst/>
              </a:prstGeom>
              <a:solidFill>
                <a:srgbClr val="3B5BDB"/>
              </a:solidFill>
              <a:ln/>
            </p:spPr>
            <p:txBody>
              <a:bodyPr/>
              <a:lstStyle/>
              <a:p>
                <a:endParaRPr lang="pt-PT" noProof="0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4A9CF2-F6CC-5DED-1658-402FAC5B9F5F}"/>
                </a:ext>
              </a:extLst>
            </p:cNvPr>
            <p:cNvGrpSpPr/>
            <p:nvPr/>
          </p:nvGrpSpPr>
          <p:grpSpPr>
            <a:xfrm>
              <a:off x="1197864" y="1158240"/>
              <a:ext cx="7132320" cy="2093603"/>
              <a:chOff x="1325880" y="1908048"/>
              <a:chExt cx="7132320" cy="2093603"/>
            </a:xfrm>
          </p:grpSpPr>
          <p:sp>
            <p:nvSpPr>
              <p:cNvPr id="5" name="Text 2"/>
              <p:cNvSpPr/>
              <p:nvPr/>
            </p:nvSpPr>
            <p:spPr>
              <a:xfrm>
                <a:off x="1325880" y="1908048"/>
                <a:ext cx="71323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 projeto demonstrou que é possível implementar renderização 3D com iluminação, projeção perspetiva e sombreamento diretamente com Jetpack </a:t>
                </a:r>
                <a:r>
                  <a:rPr lang="pt-PT" sz="1400" noProof="0" dirty="0" err="1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Compose</a:t>
                </a:r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 </a:t>
                </a:r>
                <a:r>
                  <a:rPr lang="pt-PT" sz="1400" noProof="0" dirty="0" err="1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Canvas</a:t>
                </a:r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sem necessidade de bibliotecas externas.</a:t>
                </a:r>
                <a:endParaRPr lang="pt-PT" sz="1400" noProof="0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1325880" y="2621280"/>
                <a:ext cx="71323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simulação de física com gravidade, perda progressiva de energia e efeito de ressalto contribui para uma experiência mais imersiva, permitindo aproximar de um lançamento de dados realista.</a:t>
                </a:r>
                <a:endParaRPr lang="pt-PT" sz="1400" noProof="0" dirty="0"/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1325880" y="3361571"/>
                <a:ext cx="713232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combinação de </a:t>
                </a:r>
                <a:r>
                  <a:rPr lang="pt-PT" sz="1400" noProof="0" dirty="0" err="1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Kotlin</a:t>
                </a:r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com a API de animação do </a:t>
                </a:r>
                <a:r>
                  <a:rPr lang="pt-PT" sz="1400" noProof="0" dirty="0" err="1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Compose</a:t>
                </a:r>
                <a:r>
                  <a:rPr lang="pt-PT" sz="1400" noProof="0" dirty="0">
                    <a:solidFill>
                      <a:srgbClr val="E2E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permitiu coordenar rotações simultâneas nos três eixos, interação tátil e transições de estado de forma eficiente.</a:t>
                </a:r>
                <a:endParaRPr lang="pt-PT" sz="1400" noProof="0" dirty="0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68" y="382284"/>
            <a:ext cx="457200" cy="457200"/>
          </a:xfrm>
          <a:prstGeom prst="rect">
            <a:avLst/>
          </a:prstGeom>
          <a:noFill/>
        </p:spPr>
      </p:pic>
      <p:sp>
        <p:nvSpPr>
          <p:cNvPr id="3" name="Text 0"/>
          <p:cNvSpPr/>
          <p:nvPr/>
        </p:nvSpPr>
        <p:spPr>
          <a:xfrm>
            <a:off x="1303018" y="290844"/>
            <a:ext cx="2838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Referências</a:t>
            </a:r>
            <a:endParaRPr lang="pt-PT" sz="3600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F443C1-ABF9-393A-9C31-51017BD6A202}"/>
              </a:ext>
            </a:extLst>
          </p:cNvPr>
          <p:cNvGrpSpPr/>
          <p:nvPr/>
        </p:nvGrpSpPr>
        <p:grpSpPr>
          <a:xfrm>
            <a:off x="731520" y="1094677"/>
            <a:ext cx="7772400" cy="2738175"/>
            <a:chOff x="731520" y="1077825"/>
            <a:chExt cx="7772400" cy="27381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9708C1D-7A07-2F7E-A9BE-FFFB4B75DE57}"/>
                </a:ext>
              </a:extLst>
            </p:cNvPr>
            <p:cNvGrpSpPr/>
            <p:nvPr/>
          </p:nvGrpSpPr>
          <p:grpSpPr>
            <a:xfrm>
              <a:off x="731520" y="1077825"/>
              <a:ext cx="7772400" cy="2350983"/>
              <a:chOff x="731520" y="1828800"/>
              <a:chExt cx="7772400" cy="2350983"/>
            </a:xfrm>
          </p:grpSpPr>
          <p:sp>
            <p:nvSpPr>
              <p:cNvPr id="4" name="Text 1"/>
              <p:cNvSpPr/>
              <p:nvPr/>
            </p:nvSpPr>
            <p:spPr>
              <a:xfrm>
                <a:off x="731520" y="1828800"/>
                <a:ext cx="77724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Google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Developers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Training Team. (2026,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March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30).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Create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Interactive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Dice Roller App  |  Android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Developers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Android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Developers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Retrieved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April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21, 2026,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https://developer.android.com/codelabs/basic-android-kotlin-compose-build-a-dice-roller-app</a:t>
                </a:r>
                <a:endParaRPr lang="pt-PT" sz="1300" noProof="0" dirty="0"/>
              </a:p>
            </p:txBody>
          </p:sp>
          <p:sp>
            <p:nvSpPr>
              <p:cNvPr id="5" name="Text 2"/>
              <p:cNvSpPr/>
              <p:nvPr/>
            </p:nvSpPr>
            <p:spPr>
              <a:xfrm>
                <a:off x="731520" y="2674620"/>
                <a:ext cx="777240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Google Inc. (n.d.).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JetPack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Compose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UI App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Development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Toolkit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Android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Developers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Android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Developers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Retrieved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April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23, 2026,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https://developer.android.com/jetpack/compose</a:t>
                </a:r>
                <a:endParaRPr lang="pt-PT" sz="1300" noProof="0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731520" y="3939492"/>
                <a:ext cx="7772400" cy="2402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JetBrains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(n.d.).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Kotlin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Programming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Language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Kotlin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Retrieved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April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28, 2026,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https://kotlinlang.org/</a:t>
                </a:r>
                <a:endParaRPr lang="pt-PT" sz="1300" noProof="0" dirty="0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731520" y="3312009"/>
                <a:ext cx="7772400" cy="4805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Google Inc. (2026,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February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6). Material design. Material Design.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Retrieved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May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5, 2026, </a:t>
                </a:r>
                <a:r>
                  <a:rPr lang="pt-PT" sz="1300" noProof="0" dirty="0" err="1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</a:t>
                </a:r>
                <a:r>
                  <a:rPr lang="pt-PT" sz="1300" noProof="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https://m3.material.io/</a:t>
                </a:r>
                <a:endParaRPr lang="pt-PT" sz="1300" noProof="0" dirty="0"/>
              </a:p>
            </p:txBody>
          </p:sp>
        </p:grp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E636F4C7-6611-6367-BAA0-78897BF01ACB}"/>
                </a:ext>
              </a:extLst>
            </p:cNvPr>
            <p:cNvSpPr/>
            <p:nvPr/>
          </p:nvSpPr>
          <p:spPr>
            <a:xfrm>
              <a:off x="731520" y="3575709"/>
              <a:ext cx="7772400" cy="2402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pt-PT" sz="1300" noProof="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Wikipedia</a:t>
              </a:r>
              <a:r>
                <a:rPr lang="pt-PT" sz="13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t-PT" sz="1300" noProof="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contributors</a:t>
              </a:r>
              <a:r>
                <a:rPr lang="pt-PT" sz="13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(2026, </a:t>
              </a:r>
              <a:r>
                <a:rPr lang="pt-PT" sz="1300" noProof="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April</a:t>
              </a:r>
              <a:r>
                <a:rPr lang="pt-PT" sz="13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30). Dice. </a:t>
              </a:r>
              <a:r>
                <a:rPr lang="pt-PT" sz="1300" noProof="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Wikipedia</a:t>
              </a:r>
              <a:r>
                <a:rPr lang="pt-PT" sz="13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https://en.wikipedia.org/wiki/Dice</a:t>
              </a:r>
              <a:endParaRPr lang="pt-PT" sz="1300" noProof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On-screen Show (16:9)</PresentationFormat>
  <Paragraphs>95</Paragraphs>
  <Slides>15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2026-05-13T16:03:45Z</dcterms:created>
  <dcterms:modified xsi:type="dcterms:W3CDTF">2026-05-14T15:23:49Z</dcterms:modified>
</cp:coreProperties>
</file>